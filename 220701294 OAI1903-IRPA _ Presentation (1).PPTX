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Open Sans ExtraBold"/>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ExtraBold-bold.fntdata"/><Relationship Id="rId25" Type="http://schemas.openxmlformats.org/officeDocument/2006/relationships/slide" Target="slides/slide20.xml"/><Relationship Id="rId27" Type="http://schemas.openxmlformats.org/officeDocument/2006/relationships/font" Target="fonts/OpenSan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18d066b8a9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18d066b8a9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18d066b8a9_0_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d066b8a9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8d066b8a9_0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18d066b8a9_0_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8d066b8a9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8d066b8a9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18d066b8a9_0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8d066b8a9_0_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8d066b8a9_0_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18d066b8a9_0_7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8d066b8a9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18d066b8a9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18d066b8a9_0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8d066b8a9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18d066b8a9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18d066b8a9_0_3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8d066b8a9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8d066b8a9_0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18d066b8a9_0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8d066b8a9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8d066b8a9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18d066b8a9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8d066b8a9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8d066b8a9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18d066b8a9_0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8d066b8a9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18d066b8a9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18d066b8a9_0_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9" y="986563"/>
            <a:ext cx="9286055" cy="5526825"/>
            <a:chOff x="-14748" y="986564"/>
            <a:chExt cx="9158748" cy="5030331"/>
          </a:xfrm>
        </p:grpSpPr>
        <p:sp>
          <p:nvSpPr>
            <p:cNvPr id="90" name="Google Shape;90;p13"/>
            <p:cNvSpPr txBox="1"/>
            <p:nvPr/>
          </p:nvSpPr>
          <p:spPr>
            <a:xfrm>
              <a:off x="53207" y="4812095"/>
              <a:ext cx="6382200" cy="12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Your Register No</a:t>
              </a:r>
              <a:r>
                <a:rPr b="1" lang="en-US" sz="2000">
                  <a:solidFill>
                    <a:schemeClr val="dk1"/>
                  </a:solidFill>
                  <a:latin typeface="Calibri"/>
                  <a:ea typeface="Calibri"/>
                  <a:cs typeface="Calibri"/>
                  <a:sym typeface="Calibri"/>
                </a:rPr>
                <a:t>: 220701294</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Name:Suruthi S</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Name:Mrs.U.Farjana (M.Tech)</a:t>
              </a:r>
              <a:endParaRPr sz="2000"/>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 and Department:Assisstant Professor/CSE</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2000" cy="6444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300" cy="159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331470" lvl="0" marL="342900" rtl="0" algn="l">
              <a:lnSpc>
                <a:spcPct val="114000"/>
              </a:lnSpc>
              <a:spcBef>
                <a:spcPts val="0"/>
              </a:spcBef>
              <a:spcAft>
                <a:spcPts val="0"/>
              </a:spcAft>
              <a:buClr>
                <a:schemeClr val="dk1"/>
              </a:buClr>
              <a:buSzPct val="100000"/>
              <a:buFont typeface="Noto Sans Symbols"/>
              <a:buChar char="▪"/>
            </a:pPr>
            <a:r>
              <a:rPr lang="en-US"/>
              <a:t>The Smart Borrower Automation System is a comprehensive solution designed to streamline borrowing and return processes for resource management. Utilizing key data columns—ID, Borrower's Name, Profession, BookID, Book Name, Issued On, Returned Date, and Fine Charges—the system automates tasks like transaction recording, fine calculation, and notification dispatch. Borrower and book details are validated and auto-populated from a central database, ensuring data consistency. Issuance and return dates are logged automatically, with fines calculated based on overdue returns. Personalized rules, such as profession-based borrowing policies, enhance flexibility. Integrated notifications remind borrowers of due dates, overdue returns, and fines, improving compliance. The system also provides analytical insights through automated reporting. This RPA-powered solution reduces manual effort, minimizes errors, and enhances the overall efficiency of resource lending operations, making it ideal for libraries, academic institutions, or any asset-lending framework.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85000" lnSpcReduction="20000"/>
          </a:bodyPr>
          <a:lstStyle/>
          <a:p>
            <a:pPr indent="-320040" lvl="0" marL="342900" rtl="0" algn="l">
              <a:lnSpc>
                <a:spcPct val="114000"/>
              </a:lnSpc>
              <a:spcBef>
                <a:spcPts val="0"/>
              </a:spcBef>
              <a:spcAft>
                <a:spcPts val="0"/>
              </a:spcAft>
              <a:buClr>
                <a:schemeClr val="dk1"/>
              </a:buClr>
              <a:buSzPct val="100000"/>
              <a:buFont typeface="Noto Sans Symbols"/>
              <a:buChar char="▪"/>
            </a:pPr>
            <a:r>
              <a:rPr lang="en-US"/>
              <a:t>In traditional borrower management systems, the process of issuing and returning resources, such as books or equipment, is largely manual and prone to inefficiencies. </a:t>
            </a:r>
            <a:endParaRPr/>
          </a:p>
          <a:p>
            <a:pPr indent="-320040" lvl="0" marL="342900" rtl="0" algn="l">
              <a:lnSpc>
                <a:spcPct val="114000"/>
              </a:lnSpc>
              <a:spcBef>
                <a:spcPts val="0"/>
              </a:spcBef>
              <a:spcAft>
                <a:spcPts val="0"/>
              </a:spcAft>
              <a:buClr>
                <a:schemeClr val="dk1"/>
              </a:buClr>
              <a:buSzPct val="100000"/>
              <a:buFont typeface="Noto Sans Symbols"/>
              <a:buChar char="▪"/>
            </a:pPr>
            <a:r>
              <a:rPr lang="en-US"/>
              <a:t>Borrower details, including names, professions, and resource information like IDs and issue dates, are often recorded manually or using basic software, which lacks automation. Fine calculations for overdue returns are typically done manually, leading to potential errors and inconsistencies.</a:t>
            </a:r>
            <a:endParaRPr/>
          </a:p>
          <a:p>
            <a:pPr indent="-320040" lvl="0" marL="342900" rtl="0" algn="l">
              <a:lnSpc>
                <a:spcPct val="114000"/>
              </a:lnSpc>
              <a:spcBef>
                <a:spcPts val="0"/>
              </a:spcBef>
              <a:spcAft>
                <a:spcPts val="0"/>
              </a:spcAft>
              <a:buClr>
                <a:schemeClr val="dk1"/>
              </a:buClr>
              <a:buSzPct val="100000"/>
              <a:buFont typeface="Noto Sans Symbols"/>
              <a:buChar char="▪"/>
            </a:pPr>
            <a:r>
              <a:rPr lang="en-US"/>
              <a:t> Notifications for due dates or overdue fines rely on manual communication or are entirely absent, resulting in delayed returns and resource mismanagement. Additionally, the absence of a centralized database makes data retrieval and validation cumbersome, increasing the risk of redundant entries or missing records.</a:t>
            </a:r>
            <a:endParaRPr/>
          </a:p>
          <a:p>
            <a:pPr indent="-320040" lvl="0" marL="342900" rtl="0" algn="l">
              <a:lnSpc>
                <a:spcPct val="114000"/>
              </a:lnSpc>
              <a:spcBef>
                <a:spcPts val="0"/>
              </a:spcBef>
              <a:spcAft>
                <a:spcPts val="0"/>
              </a:spcAft>
              <a:buClr>
                <a:schemeClr val="dk1"/>
              </a:buClr>
              <a:buSzPct val="100000"/>
              <a:buFont typeface="Noto Sans Symbols"/>
              <a:buChar char="▪"/>
            </a:pPr>
            <a:r>
              <a:rPr lang="en-US"/>
              <a:t> Overall, the existing system is time-consuming, error-prone, and inefficient, with limited capabilities for tracking, reporting, or managing borrowing activities effectively. This calls for an automated solution like the Smart Borrower System to overcome these limitations and improve the resource management process.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331470" lvl="0" marL="342900" rtl="0" algn="l">
              <a:lnSpc>
                <a:spcPct val="114000"/>
              </a:lnSpc>
              <a:spcBef>
                <a:spcPts val="0"/>
              </a:spcBef>
              <a:spcAft>
                <a:spcPts val="0"/>
              </a:spcAft>
              <a:buClr>
                <a:schemeClr val="dk1"/>
              </a:buClr>
              <a:buSzPct val="100000"/>
              <a:buFont typeface="Noto Sans Symbols"/>
              <a:buChar char="▪"/>
            </a:pPr>
            <a:r>
              <a:rPr lang="en-US"/>
              <a:t>The Smart Borrower System is an automated solution designed to address the inefficiencies of traditional borrowing management systems. </a:t>
            </a:r>
            <a:endParaRPr/>
          </a:p>
          <a:p>
            <a:pPr indent="-331470" lvl="0" marL="342900" rtl="0" algn="l">
              <a:lnSpc>
                <a:spcPct val="114000"/>
              </a:lnSpc>
              <a:spcBef>
                <a:spcPts val="0"/>
              </a:spcBef>
              <a:spcAft>
                <a:spcPts val="0"/>
              </a:spcAft>
              <a:buClr>
                <a:schemeClr val="dk1"/>
              </a:buClr>
              <a:buSzPct val="100000"/>
              <a:buFont typeface="Noto Sans Symbols"/>
              <a:buChar char="▪"/>
            </a:pPr>
            <a:r>
              <a:rPr lang="en-US"/>
              <a:t>It streamlines the process by automating borrower registration, resource issuance, return tracking, and fine calculations. </a:t>
            </a:r>
            <a:endParaRPr/>
          </a:p>
          <a:p>
            <a:pPr indent="-331470" lvl="0" marL="342900" rtl="0" algn="l">
              <a:lnSpc>
                <a:spcPct val="114000"/>
              </a:lnSpc>
              <a:spcBef>
                <a:spcPts val="0"/>
              </a:spcBef>
              <a:spcAft>
                <a:spcPts val="0"/>
              </a:spcAft>
              <a:buClr>
                <a:schemeClr val="dk1"/>
              </a:buClr>
              <a:buSzPct val="100000"/>
              <a:buFont typeface="Noto Sans Symbols"/>
              <a:buChar char="▪"/>
            </a:pPr>
            <a:r>
              <a:rPr lang="en-US"/>
              <a:t>The system integrates a centralized database to ensure data consistency and eliminates redundant entries. </a:t>
            </a:r>
            <a:endParaRPr/>
          </a:p>
          <a:p>
            <a:pPr indent="-331470" lvl="0" marL="342900" rtl="0" algn="l">
              <a:lnSpc>
                <a:spcPct val="114000"/>
              </a:lnSpc>
              <a:spcBef>
                <a:spcPts val="0"/>
              </a:spcBef>
              <a:spcAft>
                <a:spcPts val="0"/>
              </a:spcAft>
              <a:buClr>
                <a:schemeClr val="dk1"/>
              </a:buClr>
              <a:buSzPct val="100000"/>
              <a:buFont typeface="Noto Sans Symbols"/>
              <a:buChar char="▪"/>
            </a:pPr>
            <a:r>
              <a:rPr lang="en-US"/>
              <a:t>Automated notifications remind borrowers of due dates and overdue returns, reducing delays and improving compliance.</a:t>
            </a:r>
            <a:endParaRPr/>
          </a:p>
          <a:p>
            <a:pPr indent="-331470" lvl="0" marL="342900" rtl="0" algn="l">
              <a:lnSpc>
                <a:spcPct val="114000"/>
              </a:lnSpc>
              <a:spcBef>
                <a:spcPts val="0"/>
              </a:spcBef>
              <a:spcAft>
                <a:spcPts val="0"/>
              </a:spcAft>
              <a:buClr>
                <a:schemeClr val="dk1"/>
              </a:buClr>
              <a:buSzPct val="100000"/>
              <a:buFont typeface="Noto Sans Symbols"/>
              <a:buChar char="▪"/>
            </a:pPr>
            <a:r>
              <a:rPr lang="en-US"/>
              <a:t> Real-time fine computation and reporting capabilities provide transparency and accountability. </a:t>
            </a:r>
            <a:endParaRPr/>
          </a:p>
          <a:p>
            <a:pPr indent="-331470" lvl="0" marL="342900" rtl="0" algn="l">
              <a:lnSpc>
                <a:spcPct val="114000"/>
              </a:lnSpc>
              <a:spcBef>
                <a:spcPts val="0"/>
              </a:spcBef>
              <a:spcAft>
                <a:spcPts val="0"/>
              </a:spcAft>
              <a:buClr>
                <a:schemeClr val="dk1"/>
              </a:buClr>
              <a:buSzPct val="100000"/>
              <a:buFont typeface="Noto Sans Symbols"/>
              <a:buChar char="▪"/>
            </a:pPr>
            <a:r>
              <a:rPr lang="en-US"/>
              <a:t>Additionally, the system offers analytical insights into borrowing patterns, enabling better resource utilization. By leveraging automation, the Smart Borrower System minimizes manual effort, reduces errors, and enhances the overall efficiency and user experience of resource-lending operations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t>Implementation</a:t>
            </a:r>
            <a:endParaRPr sz="2000"/>
          </a:p>
        </p:txBody>
      </p:sp>
      <p:sp>
        <p:nvSpPr>
          <p:cNvPr id="127" name="Google Shape;127;p17"/>
          <p:cNvSpPr txBox="1"/>
          <p:nvPr>
            <p:ph idx="1" type="body"/>
          </p:nvPr>
        </p:nvSpPr>
        <p:spPr>
          <a:xfrm>
            <a:off x="190500" y="990600"/>
            <a:ext cx="8763000" cy="5334000"/>
          </a:xfrm>
          <a:prstGeom prst="rect">
            <a:avLst/>
          </a:prstGeom>
        </p:spPr>
        <p:txBody>
          <a:bodyPr anchorCtr="0" anchor="t" bIns="45700" lIns="91425" spcFirstLastPara="1" rIns="91425" wrap="square" tIns="45700">
            <a:normAutofit fontScale="85000" lnSpcReduction="20000"/>
          </a:bodyPr>
          <a:lstStyle/>
          <a:p>
            <a:pPr indent="0" lvl="0" marL="0" rtl="0" algn="l">
              <a:lnSpc>
                <a:spcPct val="200000"/>
              </a:lnSpc>
              <a:spcBef>
                <a:spcPts val="0"/>
              </a:spcBef>
              <a:spcAft>
                <a:spcPts val="0"/>
              </a:spcAft>
              <a:buNone/>
            </a:pPr>
            <a:r>
              <a:rPr lang="en-US" sz="2080">
                <a:latin typeface="Arial"/>
                <a:ea typeface="Arial"/>
                <a:cs typeface="Arial"/>
                <a:sym typeface="Arial"/>
              </a:rPr>
              <a:t>Open UiPath Studio and check the version of the application. While it’s not mandatory to use the latest version, it is recommended as updates may include new features or improvements to existing Packages/Activities/Properties that could enhance the project. </a:t>
            </a:r>
            <a:endParaRPr sz="2080">
              <a:latin typeface="Arial"/>
              <a:ea typeface="Arial"/>
              <a:cs typeface="Arial"/>
              <a:sym typeface="Arial"/>
            </a:endParaRPr>
          </a:p>
          <a:p>
            <a:pPr indent="0" lvl="0" marL="0" rtl="0" algn="l">
              <a:lnSpc>
                <a:spcPct val="200000"/>
              </a:lnSpc>
              <a:spcBef>
                <a:spcPts val="200"/>
              </a:spcBef>
              <a:spcAft>
                <a:spcPts val="0"/>
              </a:spcAft>
              <a:buNone/>
            </a:pPr>
            <a:r>
              <a:rPr lang="en-US" sz="2080">
                <a:latin typeface="Arial"/>
                <a:ea typeface="Arial"/>
                <a:cs typeface="Arial"/>
                <a:sym typeface="Arial"/>
              </a:rPr>
              <a:t>Once the application is opened, create a new process, name the file appropriately (e.g., Smart Borrower Automation Bot), and choose the directory where the UiPath files will be stored.</a:t>
            </a:r>
            <a:endParaRPr sz="2080">
              <a:latin typeface="Arial"/>
              <a:ea typeface="Arial"/>
              <a:cs typeface="Arial"/>
              <a:sym typeface="Arial"/>
            </a:endParaRPr>
          </a:p>
          <a:p>
            <a:pPr indent="0" lvl="0" marL="0" rtl="0" algn="l">
              <a:lnSpc>
                <a:spcPct val="200000"/>
              </a:lnSpc>
              <a:spcBef>
                <a:spcPts val="200"/>
              </a:spcBef>
              <a:spcAft>
                <a:spcPts val="0"/>
              </a:spcAft>
              <a:buClr>
                <a:schemeClr val="dk1"/>
              </a:buClr>
              <a:buSzPct val="52870"/>
              <a:buFont typeface="Arial"/>
              <a:buNone/>
            </a:pPr>
            <a:r>
              <a:rPr lang="en-US" sz="2080">
                <a:latin typeface="Arial"/>
                <a:ea typeface="Arial"/>
                <a:cs typeface="Arial"/>
                <a:sym typeface="Arial"/>
              </a:rPr>
              <a:t> After completing these steps, you will be ready to proceed with building the workflows for automating lending institution resource management and penalty reconciliation.</a:t>
            </a:r>
            <a:endParaRPr sz="2080">
              <a:latin typeface="Arial"/>
              <a:ea typeface="Arial"/>
              <a:cs typeface="Arial"/>
              <a:sym typeface="Arial"/>
            </a:endParaRPr>
          </a:p>
          <a:p>
            <a:pPr indent="0" lvl="0" marL="0" rtl="0" algn="l">
              <a:lnSpc>
                <a:spcPct val="107000"/>
              </a:lnSpc>
              <a:spcBef>
                <a:spcPts val="200"/>
              </a:spcBef>
              <a:spcAft>
                <a:spcPts val="0"/>
              </a:spcAft>
              <a:buClr>
                <a:schemeClr val="dk1"/>
              </a:buClr>
              <a:buSzPct val="1000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127000" rtl="0" algn="l">
              <a:lnSpc>
                <a:spcPct val="115000"/>
              </a:lnSpc>
              <a:spcBef>
                <a:spcPts val="2400"/>
              </a:spcBef>
              <a:spcAft>
                <a:spcPts val="600"/>
              </a:spcAft>
              <a:buNone/>
            </a:pPr>
            <a:r>
              <a:rPr b="1" lang="en-US" sz="1300">
                <a:latin typeface="Arial"/>
                <a:ea typeface="Arial"/>
                <a:cs typeface="Arial"/>
                <a:sym typeface="Arial"/>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t>P</a:t>
            </a:r>
            <a:r>
              <a:rPr lang="en-US" sz="3300"/>
              <a:t>roject workflow</a:t>
            </a:r>
            <a:endParaRPr sz="3300"/>
          </a:p>
        </p:txBody>
      </p:sp>
      <p:sp>
        <p:nvSpPr>
          <p:cNvPr id="134" name="Google Shape;134;p18"/>
          <p:cNvSpPr txBox="1"/>
          <p:nvPr>
            <p:ph idx="1" type="body"/>
          </p:nvPr>
        </p:nvSpPr>
        <p:spPr>
          <a:xfrm>
            <a:off x="190500" y="990600"/>
            <a:ext cx="8763000" cy="5334000"/>
          </a:xfrm>
          <a:prstGeom prst="rect">
            <a:avLst/>
          </a:prstGeom>
        </p:spPr>
        <p:txBody>
          <a:bodyPr anchorCtr="0" anchor="t" bIns="45700" lIns="91425" spcFirstLastPara="1" rIns="91425" wrap="square" tIns="45700">
            <a:noAutofit/>
          </a:bodyPr>
          <a:lstStyle/>
          <a:p>
            <a:pPr indent="0" lvl="0" marL="0" rtl="0" algn="just">
              <a:lnSpc>
                <a:spcPct val="115000"/>
              </a:lnSpc>
              <a:spcBef>
                <a:spcPts val="1800"/>
              </a:spcBef>
              <a:spcAft>
                <a:spcPts val="0"/>
              </a:spcAft>
              <a:buNone/>
            </a:pPr>
            <a:r>
              <a:rPr b="1" lang="en-US" sz="1500">
                <a:latin typeface="Arial"/>
                <a:ea typeface="Arial"/>
                <a:cs typeface="Arial"/>
                <a:sym typeface="Arial"/>
              </a:rPr>
              <a:t>Input Dialog </a:t>
            </a:r>
            <a:r>
              <a:rPr lang="en-US" sz="1500">
                <a:latin typeface="Arial"/>
                <a:ea typeface="Arial"/>
                <a:cs typeface="Arial"/>
                <a:sym typeface="Arial"/>
              </a:rPr>
              <a:t>– To capture user inputs such as user ID or return dates.</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b="1" lang="en-US" sz="1500">
                <a:latin typeface="Arial"/>
                <a:ea typeface="Arial"/>
                <a:cs typeface="Arial"/>
                <a:sym typeface="Arial"/>
              </a:rPr>
              <a:t>Invoke Workflow</a:t>
            </a:r>
            <a:r>
              <a:rPr lang="en-US" sz="1500">
                <a:latin typeface="Arial"/>
                <a:ea typeface="Arial"/>
                <a:cs typeface="Arial"/>
                <a:sym typeface="Arial"/>
              </a:rPr>
              <a:t> – To call reusable workflows for specific tasks like fine calculation or report generation.</a:t>
            </a:r>
            <a:endParaRPr sz="1500">
              <a:latin typeface="Arial"/>
              <a:ea typeface="Arial"/>
              <a:cs typeface="Arial"/>
              <a:sym typeface="Arial"/>
            </a:endParaRPr>
          </a:p>
          <a:p>
            <a:pPr indent="0" lvl="0" marL="0" rtl="0" algn="just">
              <a:lnSpc>
                <a:spcPct val="115000"/>
              </a:lnSpc>
              <a:spcBef>
                <a:spcPts val="1800"/>
              </a:spcBef>
              <a:spcAft>
                <a:spcPts val="0"/>
              </a:spcAft>
              <a:buNone/>
            </a:pPr>
            <a:r>
              <a:rPr lang="en-US" sz="1500">
                <a:latin typeface="Arial"/>
                <a:ea typeface="Arial"/>
                <a:cs typeface="Arial"/>
                <a:sym typeface="Arial"/>
              </a:rPr>
              <a:t> </a:t>
            </a:r>
            <a:r>
              <a:rPr b="1" lang="en-US" sz="1500">
                <a:latin typeface="Arial"/>
                <a:ea typeface="Arial"/>
                <a:cs typeface="Arial"/>
                <a:sym typeface="Arial"/>
              </a:rPr>
              <a:t> Try Catch</a:t>
            </a:r>
            <a:r>
              <a:rPr lang="en-US" sz="1500">
                <a:latin typeface="Arial"/>
                <a:ea typeface="Arial"/>
                <a:cs typeface="Arial"/>
                <a:sym typeface="Arial"/>
              </a:rPr>
              <a:t> – To handle errors and ensure smooth execution of the bot.</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900">
                <a:latin typeface="Arial"/>
                <a:ea typeface="Arial"/>
                <a:cs typeface="Arial"/>
                <a:sym typeface="Arial"/>
              </a:rPr>
              <a:t> </a:t>
            </a:r>
            <a:r>
              <a:rPr b="1" lang="en-US" sz="1500">
                <a:latin typeface="Arial"/>
                <a:ea typeface="Arial"/>
                <a:cs typeface="Arial"/>
                <a:sym typeface="Arial"/>
              </a:rPr>
              <a:t>Read Range</a:t>
            </a:r>
            <a:r>
              <a:rPr lang="en-US" sz="1500">
                <a:latin typeface="Arial"/>
                <a:ea typeface="Arial"/>
                <a:cs typeface="Arial"/>
                <a:sym typeface="Arial"/>
              </a:rPr>
              <a:t> – To read lending institution records from Excel files or databases</a:t>
            </a:r>
            <a:r>
              <a:rPr lang="en-US" sz="1900">
                <a:latin typeface="Arial"/>
                <a:ea typeface="Arial"/>
                <a:cs typeface="Arial"/>
                <a:sym typeface="Arial"/>
              </a:rPr>
              <a:t>.</a:t>
            </a:r>
            <a:endParaRPr sz="19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500">
                <a:latin typeface="Arial"/>
                <a:ea typeface="Arial"/>
                <a:cs typeface="Arial"/>
                <a:sym typeface="Arial"/>
              </a:rPr>
              <a:t>  </a:t>
            </a:r>
            <a:r>
              <a:rPr b="1" lang="en-US" sz="1500">
                <a:latin typeface="Arial"/>
                <a:ea typeface="Arial"/>
                <a:cs typeface="Arial"/>
                <a:sym typeface="Arial"/>
              </a:rPr>
              <a:t>Write Range</a:t>
            </a:r>
            <a:r>
              <a:rPr lang="en-US" sz="1500">
                <a:latin typeface="Arial"/>
                <a:ea typeface="Arial"/>
                <a:cs typeface="Arial"/>
                <a:sym typeface="Arial"/>
              </a:rPr>
              <a:t> – To update or organize reconciled data into structured Excel files.</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500">
                <a:latin typeface="Arial"/>
                <a:ea typeface="Arial"/>
                <a:cs typeface="Arial"/>
                <a:sym typeface="Arial"/>
              </a:rPr>
              <a:t>  </a:t>
            </a:r>
            <a:r>
              <a:rPr b="1" lang="en-US" sz="1500">
                <a:latin typeface="Arial"/>
                <a:ea typeface="Arial"/>
                <a:cs typeface="Arial"/>
                <a:sym typeface="Arial"/>
              </a:rPr>
              <a:t>Send SMTP Mail Messages</a:t>
            </a:r>
            <a:r>
              <a:rPr lang="en-US" sz="1500">
                <a:latin typeface="Arial"/>
                <a:ea typeface="Arial"/>
                <a:cs typeface="Arial"/>
                <a:sym typeface="Arial"/>
              </a:rPr>
              <a:t> – To send penalty notifications and summary reports via email.</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500">
                <a:latin typeface="Arial"/>
                <a:ea typeface="Arial"/>
                <a:cs typeface="Arial"/>
                <a:sym typeface="Arial"/>
              </a:rPr>
              <a:t>  </a:t>
            </a:r>
            <a:r>
              <a:rPr b="1" lang="en-US" sz="1500">
                <a:latin typeface="Arial"/>
                <a:ea typeface="Arial"/>
                <a:cs typeface="Arial"/>
                <a:sym typeface="Arial"/>
              </a:rPr>
              <a:t>Log Message</a:t>
            </a:r>
            <a:r>
              <a:rPr lang="en-US" sz="1500">
                <a:latin typeface="Arial"/>
                <a:ea typeface="Arial"/>
                <a:cs typeface="Arial"/>
                <a:sym typeface="Arial"/>
              </a:rPr>
              <a:t> – To log the execution details and track the bot’s performance.</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500">
                <a:latin typeface="Arial"/>
                <a:ea typeface="Arial"/>
                <a:cs typeface="Arial"/>
                <a:sym typeface="Arial"/>
              </a:rPr>
              <a:t>  </a:t>
            </a:r>
            <a:r>
              <a:rPr b="1" lang="en-US" sz="1500">
                <a:latin typeface="Arial"/>
                <a:ea typeface="Arial"/>
                <a:cs typeface="Arial"/>
                <a:sym typeface="Arial"/>
              </a:rPr>
              <a:t>Filter Data Table</a:t>
            </a:r>
            <a:r>
              <a:rPr lang="en-US" sz="1500">
                <a:latin typeface="Arial"/>
                <a:ea typeface="Arial"/>
                <a:cs typeface="Arial"/>
                <a:sym typeface="Arial"/>
              </a:rPr>
              <a:t> – To apply rules for fine calculation and customize the reconciliation process.</a:t>
            </a:r>
            <a:endParaRPr sz="1500">
              <a:latin typeface="Arial"/>
              <a:ea typeface="Arial"/>
              <a:cs typeface="Arial"/>
              <a:sym typeface="Arial"/>
            </a:endParaRPr>
          </a:p>
          <a:p>
            <a:pPr indent="0" lvl="0" marL="0" rtl="0" algn="just">
              <a:lnSpc>
                <a:spcPct val="115000"/>
              </a:lnSpc>
              <a:spcBef>
                <a:spcPts val="1800"/>
              </a:spcBef>
              <a:spcAft>
                <a:spcPts val="0"/>
              </a:spcAft>
              <a:buClr>
                <a:schemeClr val="dk1"/>
              </a:buClr>
              <a:buSzPts val="1100"/>
              <a:buFont typeface="Arial"/>
              <a:buNone/>
            </a:pPr>
            <a:r>
              <a:rPr lang="en-US" sz="1500">
                <a:latin typeface="Arial"/>
                <a:ea typeface="Arial"/>
                <a:cs typeface="Arial"/>
                <a:sym typeface="Arial"/>
              </a:rPr>
              <a:t> </a:t>
            </a:r>
            <a:r>
              <a:rPr b="1" lang="en-US" sz="1500">
                <a:latin typeface="Arial"/>
                <a:ea typeface="Arial"/>
                <a:cs typeface="Arial"/>
                <a:sym typeface="Arial"/>
              </a:rPr>
              <a:t> Message Box </a:t>
            </a:r>
            <a:r>
              <a:rPr lang="en-US" sz="1500">
                <a:latin typeface="Arial"/>
                <a:ea typeface="Arial"/>
                <a:cs typeface="Arial"/>
                <a:sym typeface="Arial"/>
              </a:rPr>
              <a:t>– To provide real-time updates or prompts for user interaction.</a:t>
            </a:r>
            <a:endParaRPr sz="1500">
              <a:latin typeface="Arial"/>
              <a:ea typeface="Arial"/>
              <a:cs typeface="Arial"/>
              <a:sym typeface="Arial"/>
            </a:endParaRPr>
          </a:p>
          <a:p>
            <a:pPr indent="0" lvl="0" marL="0" rtl="0" algn="l">
              <a:spcBef>
                <a:spcPts val="480"/>
              </a:spcBef>
              <a:spcAft>
                <a:spcPts val="0"/>
              </a:spcAft>
              <a:buNone/>
            </a:pPr>
            <a:r>
              <a:rPr lang="en-US" sz="1500">
                <a:latin typeface="Times New Roman"/>
                <a:ea typeface="Times New Roman"/>
                <a:cs typeface="Times New Roman"/>
                <a:sym typeface="Times New Roman"/>
              </a:rPr>
              <a:t>  </a:t>
            </a:r>
            <a:endParaRPr sz="2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2600"/>
              <a:t>Explaining the Sequence</a:t>
            </a:r>
            <a:endParaRPr sz="2600"/>
          </a:p>
        </p:txBody>
      </p:sp>
      <p:sp>
        <p:nvSpPr>
          <p:cNvPr id="141" name="Google Shape;141;p19"/>
          <p:cNvSpPr txBox="1"/>
          <p:nvPr>
            <p:ph idx="1" type="body"/>
          </p:nvPr>
        </p:nvSpPr>
        <p:spPr>
          <a:xfrm>
            <a:off x="190500" y="990600"/>
            <a:ext cx="8763000" cy="5334000"/>
          </a:xfrm>
          <a:prstGeom prst="rect">
            <a:avLst/>
          </a:prstGeom>
        </p:spPr>
        <p:txBody>
          <a:bodyPr anchorCtr="0" anchor="t" bIns="45700" lIns="91425" spcFirstLastPara="1" rIns="91425" wrap="square" tIns="45700">
            <a:normAutofit fontScale="92500" lnSpcReduction="20000"/>
          </a:bodyPr>
          <a:lstStyle/>
          <a:p>
            <a:pPr indent="-228600" lvl="0" marL="457200" marR="381000" rtl="0" algn="l">
              <a:lnSpc>
                <a:spcPct val="150000"/>
              </a:lnSpc>
              <a:spcBef>
                <a:spcPts val="0"/>
              </a:spcBef>
              <a:spcAft>
                <a:spcPts val="0"/>
              </a:spcAft>
              <a:buClr>
                <a:schemeClr val="dk1"/>
              </a:buClr>
              <a:buSzPct val="68750"/>
              <a:buFont typeface="Arial"/>
              <a:buNone/>
            </a:pPr>
            <a:r>
              <a:rPr lang="en-US" sz="1600">
                <a:latin typeface="Arial"/>
                <a:ea typeface="Arial"/>
                <a:cs typeface="Arial"/>
                <a:sym typeface="Arial"/>
              </a:rPr>
              <a:t>1.</a:t>
            </a:r>
            <a:r>
              <a:rPr lang="en-US" sz="1200">
                <a:latin typeface="Arial"/>
                <a:ea typeface="Arial"/>
                <a:cs typeface="Arial"/>
                <a:sym typeface="Arial"/>
              </a:rPr>
              <a:t> 	</a:t>
            </a:r>
            <a:r>
              <a:rPr b="1" lang="en-US" sz="1600">
                <a:latin typeface="Arial"/>
                <a:ea typeface="Arial"/>
                <a:cs typeface="Arial"/>
                <a:sym typeface="Arial"/>
              </a:rPr>
              <a:t>User Input Collection:</a:t>
            </a:r>
            <a:br>
              <a:rPr b="1" lang="en-US" sz="1600">
                <a:latin typeface="Arial"/>
                <a:ea typeface="Arial"/>
                <a:cs typeface="Arial"/>
                <a:sym typeface="Arial"/>
              </a:rPr>
            </a:br>
            <a:r>
              <a:rPr lang="en-US" sz="1600">
                <a:latin typeface="Arial"/>
                <a:ea typeface="Arial"/>
                <a:cs typeface="Arial"/>
                <a:sym typeface="Arial"/>
              </a:rPr>
              <a:t> The bot prompts the administrator to input essential information such as user ID, book return dates, or penalty rules using an Input Dialog activity.</a:t>
            </a:r>
            <a:br>
              <a:rPr lang="en-US" sz="1600">
                <a:latin typeface="Arial"/>
                <a:ea typeface="Arial"/>
                <a:cs typeface="Arial"/>
                <a:sym typeface="Arial"/>
              </a:rPr>
            </a:br>
            <a:r>
              <a:rPr lang="en-US" sz="1600">
                <a:latin typeface="Arial"/>
                <a:ea typeface="Arial"/>
                <a:cs typeface="Arial"/>
                <a:sym typeface="Arial"/>
              </a:rPr>
              <a:t> This ensures the bot has the necessary parameters to reconcile loan repayments or interest calculations accurately.</a:t>
            </a:r>
            <a:endParaRPr sz="1600">
              <a:latin typeface="Arial"/>
              <a:ea typeface="Arial"/>
              <a:cs typeface="Arial"/>
              <a:sym typeface="Arial"/>
            </a:endParaRPr>
          </a:p>
          <a:p>
            <a:pPr indent="-228600" lvl="0" marL="457200" marR="381000" rtl="0" algn="l">
              <a:lnSpc>
                <a:spcPct val="150000"/>
              </a:lnSpc>
              <a:spcBef>
                <a:spcPts val="1900"/>
              </a:spcBef>
              <a:spcAft>
                <a:spcPts val="0"/>
              </a:spcAft>
              <a:buClr>
                <a:schemeClr val="dk1"/>
              </a:buClr>
              <a:buSzPct val="68750"/>
              <a:buFont typeface="Arial"/>
              <a:buNone/>
            </a:pPr>
            <a:r>
              <a:rPr lang="en-US" sz="1600">
                <a:latin typeface="Arial"/>
                <a:ea typeface="Arial"/>
                <a:cs typeface="Arial"/>
                <a:sym typeface="Arial"/>
              </a:rPr>
              <a:t>2.</a:t>
            </a:r>
            <a:r>
              <a:rPr lang="en-US" sz="1200">
                <a:latin typeface="Arial"/>
                <a:ea typeface="Arial"/>
                <a:cs typeface="Arial"/>
                <a:sym typeface="Arial"/>
              </a:rPr>
              <a:t> 	</a:t>
            </a:r>
            <a:r>
              <a:rPr b="1" lang="en-US" sz="1600">
                <a:latin typeface="Arial"/>
                <a:ea typeface="Arial"/>
                <a:cs typeface="Arial"/>
                <a:sym typeface="Arial"/>
              </a:rPr>
              <a:t>Read Borrowing Records:</a:t>
            </a:r>
            <a:br>
              <a:rPr b="1" lang="en-US" sz="1600">
                <a:latin typeface="Arial"/>
                <a:ea typeface="Arial"/>
                <a:cs typeface="Arial"/>
                <a:sym typeface="Arial"/>
              </a:rPr>
            </a:br>
            <a:r>
              <a:rPr lang="en-US" sz="1600">
                <a:latin typeface="Arial"/>
                <a:ea typeface="Arial"/>
                <a:cs typeface="Arial"/>
                <a:sym typeface="Arial"/>
              </a:rPr>
              <a:t> Using Read Range or other Excel activities, the bot retrieves borrowing and return data from the lending institution database or spreadsheet.</a:t>
            </a:r>
            <a:br>
              <a:rPr lang="en-US" sz="1600">
                <a:latin typeface="Arial"/>
                <a:ea typeface="Arial"/>
                <a:cs typeface="Arial"/>
                <a:sym typeface="Arial"/>
              </a:rPr>
            </a:br>
            <a:r>
              <a:rPr lang="en-US" sz="1600">
                <a:latin typeface="Arial"/>
                <a:ea typeface="Arial"/>
                <a:cs typeface="Arial"/>
                <a:sym typeface="Arial"/>
              </a:rPr>
              <a:t> This data serves as the foundation for penalty calculation and reconciliation.</a:t>
            </a:r>
            <a:endParaRPr sz="1600">
              <a:latin typeface="Arial"/>
              <a:ea typeface="Arial"/>
              <a:cs typeface="Arial"/>
              <a:sym typeface="Arial"/>
            </a:endParaRPr>
          </a:p>
          <a:p>
            <a:pPr indent="-228600" lvl="0" marL="457200" marR="381000" rtl="0" algn="l">
              <a:lnSpc>
                <a:spcPct val="150000"/>
              </a:lnSpc>
              <a:spcBef>
                <a:spcPts val="1900"/>
              </a:spcBef>
              <a:spcAft>
                <a:spcPts val="0"/>
              </a:spcAft>
              <a:buClr>
                <a:schemeClr val="dk1"/>
              </a:buClr>
              <a:buSzPct val="68750"/>
              <a:buFont typeface="Arial"/>
              <a:buNone/>
            </a:pPr>
            <a:r>
              <a:rPr lang="en-US" sz="1600">
                <a:latin typeface="Arial"/>
                <a:ea typeface="Arial"/>
                <a:cs typeface="Arial"/>
                <a:sym typeface="Arial"/>
              </a:rPr>
              <a:t>3.</a:t>
            </a:r>
            <a:r>
              <a:rPr lang="en-US" sz="1200">
                <a:latin typeface="Arial"/>
                <a:ea typeface="Arial"/>
                <a:cs typeface="Arial"/>
                <a:sym typeface="Arial"/>
              </a:rPr>
              <a:t> 	</a:t>
            </a:r>
            <a:r>
              <a:rPr b="1" lang="en-US" sz="1600">
                <a:latin typeface="Arial"/>
                <a:ea typeface="Arial"/>
                <a:cs typeface="Arial"/>
                <a:sym typeface="Arial"/>
              </a:rPr>
              <a:t>Penalty Calculation and Reconciliation:</a:t>
            </a:r>
            <a:br>
              <a:rPr b="1" lang="en-US" sz="1600">
                <a:latin typeface="Arial"/>
                <a:ea typeface="Arial"/>
                <a:cs typeface="Arial"/>
                <a:sym typeface="Arial"/>
              </a:rPr>
            </a:br>
            <a:r>
              <a:rPr lang="en-US" sz="1600">
                <a:latin typeface="Arial"/>
                <a:ea typeface="Arial"/>
                <a:cs typeface="Arial"/>
                <a:sym typeface="Arial"/>
              </a:rPr>
              <a:t> The bot processes the borrowed book details and calculates overdue loan repayments or interest calculations based on predefined rules.</a:t>
            </a:r>
            <a:br>
              <a:rPr lang="en-US" sz="1600">
                <a:latin typeface="Arial"/>
                <a:ea typeface="Arial"/>
                <a:cs typeface="Arial"/>
                <a:sym typeface="Arial"/>
              </a:rPr>
            </a:br>
            <a:r>
              <a:rPr lang="en-US" sz="1600">
                <a:latin typeface="Arial"/>
                <a:ea typeface="Arial"/>
                <a:cs typeface="Arial"/>
                <a:sym typeface="Arial"/>
              </a:rPr>
              <a:t> Customizable options allow for partial waivers or adjustments during the reconciliation process</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19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190500" y="106484"/>
            <a:ext cx="1062600" cy="57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t/>
            </a:r>
            <a:endParaRPr sz="100"/>
          </a:p>
        </p:txBody>
      </p:sp>
      <p:sp>
        <p:nvSpPr>
          <p:cNvPr id="148" name="Google Shape;148;p20"/>
          <p:cNvSpPr txBox="1"/>
          <p:nvPr>
            <p:ph idx="1" type="body"/>
          </p:nvPr>
        </p:nvSpPr>
        <p:spPr>
          <a:xfrm>
            <a:off x="190500" y="198525"/>
            <a:ext cx="8763000" cy="6123300"/>
          </a:xfrm>
          <a:prstGeom prst="rect">
            <a:avLst/>
          </a:prstGeom>
        </p:spPr>
        <p:txBody>
          <a:bodyPr anchorCtr="0" anchor="t" bIns="45700" lIns="91425" spcFirstLastPara="1" rIns="91425" wrap="square" tIns="45700">
            <a:noAutofit/>
          </a:bodyPr>
          <a:lstStyle/>
          <a:p>
            <a:pPr indent="-228600" lvl="0" marL="457200" marR="381000" rtl="0" algn="l">
              <a:lnSpc>
                <a:spcPct val="150000"/>
              </a:lnSpc>
              <a:spcBef>
                <a:spcPts val="0"/>
              </a:spcBef>
              <a:spcAft>
                <a:spcPts val="0"/>
              </a:spcAft>
              <a:buClr>
                <a:schemeClr val="dk1"/>
              </a:buClr>
              <a:buSzPts val="1100"/>
              <a:buFont typeface="Arial"/>
              <a:buNone/>
            </a:pPr>
            <a:r>
              <a:rPr lang="en-US" sz="1400">
                <a:latin typeface="Arial"/>
                <a:ea typeface="Arial"/>
                <a:cs typeface="Arial"/>
                <a:sym typeface="Arial"/>
              </a:rPr>
              <a:t>1.</a:t>
            </a:r>
            <a:r>
              <a:rPr lang="en-US" sz="1000">
                <a:latin typeface="Arial"/>
                <a:ea typeface="Arial"/>
                <a:cs typeface="Arial"/>
                <a:sym typeface="Arial"/>
              </a:rPr>
              <a:t> 	</a:t>
            </a:r>
            <a:r>
              <a:rPr b="1" lang="en-US" sz="1400">
                <a:latin typeface="Arial"/>
                <a:ea typeface="Arial"/>
                <a:cs typeface="Arial"/>
                <a:sym typeface="Arial"/>
              </a:rPr>
              <a:t>Organize and Store Data in Excel:</a:t>
            </a:r>
            <a:br>
              <a:rPr b="1" lang="en-US" sz="1400">
                <a:latin typeface="Arial"/>
                <a:ea typeface="Arial"/>
                <a:cs typeface="Arial"/>
                <a:sym typeface="Arial"/>
              </a:rPr>
            </a:br>
            <a:r>
              <a:rPr lang="en-US" sz="1400">
                <a:latin typeface="Arial"/>
                <a:ea typeface="Arial"/>
                <a:cs typeface="Arial"/>
                <a:sym typeface="Arial"/>
              </a:rPr>
              <a:t> The reconciled data is formatted and structured using Write Range and Filter Data Table activities.</a:t>
            </a:r>
            <a:br>
              <a:rPr lang="en-US" sz="1400">
                <a:latin typeface="Arial"/>
                <a:ea typeface="Arial"/>
                <a:cs typeface="Arial"/>
                <a:sym typeface="Arial"/>
              </a:rPr>
            </a:br>
            <a:r>
              <a:rPr lang="en-US" sz="1400">
                <a:latin typeface="Arial"/>
                <a:ea typeface="Arial"/>
                <a:cs typeface="Arial"/>
                <a:sym typeface="Arial"/>
              </a:rPr>
              <a:t> This creates a clear and comprehensive record of loan repayments or interest calculations and borrowing updates, stored in an Excel file.</a:t>
            </a:r>
            <a:endParaRPr sz="1400">
              <a:latin typeface="Arial"/>
              <a:ea typeface="Arial"/>
              <a:cs typeface="Arial"/>
              <a:sym typeface="Arial"/>
            </a:endParaRPr>
          </a:p>
          <a:p>
            <a:pPr indent="-228600" lvl="0" marL="457200" marR="381000" rtl="0" algn="l">
              <a:lnSpc>
                <a:spcPct val="150000"/>
              </a:lnSpc>
              <a:spcBef>
                <a:spcPts val="1900"/>
              </a:spcBef>
              <a:spcAft>
                <a:spcPts val="0"/>
              </a:spcAft>
              <a:buClr>
                <a:schemeClr val="dk1"/>
              </a:buClr>
              <a:buSzPts val="1100"/>
              <a:buFont typeface="Arial"/>
              <a:buNone/>
            </a:pPr>
            <a:r>
              <a:rPr lang="en-US" sz="1400">
                <a:latin typeface="Arial"/>
                <a:ea typeface="Arial"/>
                <a:cs typeface="Arial"/>
                <a:sym typeface="Arial"/>
              </a:rPr>
              <a:t>2.</a:t>
            </a:r>
            <a:r>
              <a:rPr lang="en-US" sz="1000">
                <a:latin typeface="Arial"/>
                <a:ea typeface="Arial"/>
                <a:cs typeface="Arial"/>
                <a:sym typeface="Arial"/>
              </a:rPr>
              <a:t> 	</a:t>
            </a:r>
            <a:r>
              <a:rPr b="1" lang="en-US" sz="1400">
                <a:latin typeface="Arial"/>
                <a:ea typeface="Arial"/>
                <a:cs typeface="Arial"/>
                <a:sym typeface="Arial"/>
              </a:rPr>
              <a:t>Send Email with Reconciled Data</a:t>
            </a:r>
            <a:r>
              <a:rPr lang="en-US" sz="1400">
                <a:latin typeface="Arial"/>
                <a:ea typeface="Arial"/>
                <a:cs typeface="Arial"/>
                <a:sym typeface="Arial"/>
              </a:rPr>
              <a:t>:</a:t>
            </a:r>
            <a:br>
              <a:rPr lang="en-US" sz="1400">
                <a:latin typeface="Arial"/>
                <a:ea typeface="Arial"/>
                <a:cs typeface="Arial"/>
                <a:sym typeface="Arial"/>
              </a:rPr>
            </a:br>
            <a:r>
              <a:rPr lang="en-US" sz="1400">
                <a:latin typeface="Arial"/>
                <a:ea typeface="Arial"/>
                <a:cs typeface="Arial"/>
                <a:sym typeface="Arial"/>
              </a:rPr>
              <a:t> The bot uses the Send SMTP Mail Message activity (or another email service) to attach the Excel file and email it to users or administrators.</a:t>
            </a:r>
            <a:br>
              <a:rPr lang="en-US" sz="1400">
                <a:latin typeface="Arial"/>
                <a:ea typeface="Arial"/>
                <a:cs typeface="Arial"/>
                <a:sym typeface="Arial"/>
              </a:rPr>
            </a:br>
            <a:r>
              <a:rPr lang="en-US" sz="1400">
                <a:latin typeface="Arial"/>
                <a:ea typeface="Arial"/>
                <a:cs typeface="Arial"/>
                <a:sym typeface="Arial"/>
              </a:rPr>
              <a:t> A confirmation message may also be displayed to notify that the email has been sent successfully.</a:t>
            </a:r>
            <a:endParaRPr sz="1400">
              <a:latin typeface="Arial"/>
              <a:ea typeface="Arial"/>
              <a:cs typeface="Arial"/>
              <a:sym typeface="Arial"/>
            </a:endParaRPr>
          </a:p>
          <a:p>
            <a:pPr indent="0" lvl="0" marL="165100" marR="381000" rtl="0" algn="l">
              <a:lnSpc>
                <a:spcPct val="150000"/>
              </a:lnSpc>
              <a:spcBef>
                <a:spcPts val="1900"/>
              </a:spcBef>
              <a:spcAft>
                <a:spcPts val="0"/>
              </a:spcAft>
              <a:buClr>
                <a:schemeClr val="dk1"/>
              </a:buClr>
              <a:buSzPts val="1100"/>
              <a:buFont typeface="Arial"/>
              <a:buNone/>
            </a:pPr>
            <a:r>
              <a:rPr lang="en-US" sz="1400">
                <a:latin typeface="Arial"/>
                <a:ea typeface="Arial"/>
                <a:cs typeface="Arial"/>
                <a:sym typeface="Arial"/>
              </a:rPr>
              <a:t>6.</a:t>
            </a:r>
            <a:r>
              <a:rPr b="1" lang="en-US" sz="1400">
                <a:latin typeface="Arial"/>
                <a:ea typeface="Arial"/>
                <a:cs typeface="Arial"/>
                <a:sym typeface="Arial"/>
              </a:rPr>
              <a:t>Error Handling and Logging</a:t>
            </a:r>
            <a:r>
              <a:rPr lang="en-US" sz="1400">
                <a:latin typeface="Arial"/>
                <a:ea typeface="Arial"/>
                <a:cs typeface="Arial"/>
                <a:sym typeface="Arial"/>
              </a:rPr>
              <a:t>:</a:t>
            </a:r>
            <a:br>
              <a:rPr lang="en-US" sz="1400">
                <a:latin typeface="Arial"/>
                <a:ea typeface="Arial"/>
                <a:cs typeface="Arial"/>
                <a:sym typeface="Arial"/>
              </a:rPr>
            </a:br>
            <a:r>
              <a:rPr lang="en-US" sz="1400">
                <a:latin typeface="Arial"/>
                <a:ea typeface="Arial"/>
                <a:cs typeface="Arial"/>
                <a:sym typeface="Arial"/>
              </a:rPr>
              <a:t> Throughout the workflow, the bot employs Log Message activities to record each step and any errors encountered. Try Catch and Retry Scope mechanisms handle potential failures in critical parts such as data processing or email delivery.</a:t>
            </a:r>
            <a:endParaRPr sz="1400">
              <a:latin typeface="Arial"/>
              <a:ea typeface="Arial"/>
              <a:cs typeface="Arial"/>
              <a:sym typeface="Arial"/>
            </a:endParaRPr>
          </a:p>
          <a:p>
            <a:pPr indent="0" lvl="0" marL="165100" marR="381000" rtl="0" algn="l">
              <a:lnSpc>
                <a:spcPct val="150000"/>
              </a:lnSpc>
              <a:spcBef>
                <a:spcPts val="1900"/>
              </a:spcBef>
              <a:spcAft>
                <a:spcPts val="0"/>
              </a:spcAft>
              <a:buClr>
                <a:schemeClr val="dk1"/>
              </a:buClr>
              <a:buSzPts val="1100"/>
              <a:buFont typeface="Arial"/>
              <a:buNone/>
            </a:pPr>
            <a:r>
              <a:rPr lang="en-US" sz="1400">
                <a:latin typeface="Arial"/>
                <a:ea typeface="Arial"/>
                <a:cs typeface="Arial"/>
                <a:sym typeface="Arial"/>
              </a:rPr>
              <a:t>7.</a:t>
            </a:r>
            <a:r>
              <a:rPr b="1" lang="en-US" sz="1400">
                <a:latin typeface="Arial"/>
                <a:ea typeface="Arial"/>
                <a:cs typeface="Arial"/>
                <a:sym typeface="Arial"/>
              </a:rPr>
              <a:t>Display Success Notification</a:t>
            </a:r>
            <a:r>
              <a:rPr lang="en-US" sz="1400">
                <a:latin typeface="Arial"/>
                <a:ea typeface="Arial"/>
                <a:cs typeface="Arial"/>
                <a:sym typeface="Arial"/>
              </a:rPr>
              <a:t>:</a:t>
            </a:r>
            <a:br>
              <a:rPr lang="en-US" sz="1400">
                <a:latin typeface="Arial"/>
                <a:ea typeface="Arial"/>
                <a:cs typeface="Arial"/>
                <a:sym typeface="Arial"/>
              </a:rPr>
            </a:br>
            <a:r>
              <a:rPr lang="en-US" sz="1400">
                <a:latin typeface="Arial"/>
                <a:ea typeface="Arial"/>
                <a:cs typeface="Arial"/>
                <a:sym typeface="Arial"/>
              </a:rPr>
              <a:t> Once the entire process is completed, a final Message Box or notification confirms successful reconciliation and email delivery.</a:t>
            </a:r>
            <a:endParaRPr sz="1400">
              <a:latin typeface="Arial"/>
              <a:ea typeface="Arial"/>
              <a:cs typeface="Arial"/>
              <a:sym typeface="Arial"/>
            </a:endParaRPr>
          </a:p>
          <a:p>
            <a:pPr indent="0" lvl="0" marL="0" rtl="0" algn="l">
              <a:spcBef>
                <a:spcPts val="1900"/>
              </a:spcBef>
              <a:spcAft>
                <a:spcPts val="0"/>
              </a:spcAft>
              <a:buNone/>
            </a:pPr>
            <a:r>
              <a:t/>
            </a:r>
            <a:endParaRPr sz="3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idx="1" type="body"/>
          </p:nvPr>
        </p:nvSpPr>
        <p:spPr>
          <a:xfrm>
            <a:off x="0" y="237200"/>
            <a:ext cx="8763000" cy="6087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400"/>
              </a:spcBef>
              <a:spcAft>
                <a:spcPts val="0"/>
              </a:spcAft>
              <a:buClr>
                <a:schemeClr val="dk1"/>
              </a:buClr>
              <a:buSzPts val="1100"/>
              <a:buFont typeface="Arial"/>
              <a:buNone/>
            </a:pPr>
            <a:r>
              <a:rPr b="1" lang="en-US" sz="1700">
                <a:latin typeface="Arial"/>
                <a:ea typeface="Arial"/>
                <a:cs typeface="Arial"/>
                <a:sym typeface="Arial"/>
              </a:rPr>
              <a:t>PACKAGES REQUIRED</a:t>
            </a:r>
            <a:endParaRPr b="1" sz="1700">
              <a:latin typeface="Arial"/>
              <a:ea typeface="Arial"/>
              <a:cs typeface="Arial"/>
              <a:sym typeface="Arial"/>
            </a:endParaRPr>
          </a:p>
          <a:p>
            <a:pPr indent="0" lvl="0" marL="0" rtl="0" algn="l">
              <a:lnSpc>
                <a:spcPct val="107000"/>
              </a:lnSpc>
              <a:spcBef>
                <a:spcPts val="600"/>
              </a:spcBef>
              <a:spcAft>
                <a:spcPts val="0"/>
              </a:spcAft>
              <a:buClr>
                <a:schemeClr val="dk1"/>
              </a:buClr>
              <a:buSzPts val="1100"/>
              <a:buFont typeface="Arial"/>
              <a:buNone/>
            </a:pPr>
            <a:r>
              <a:rPr lang="en-US" sz="1500">
                <a:latin typeface="Arial"/>
                <a:ea typeface="Arial"/>
                <a:cs typeface="Arial"/>
                <a:sym typeface="Arial"/>
              </a:rPr>
              <a:t> </a:t>
            </a:r>
            <a:endParaRPr sz="1500">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US" sz="1500">
                <a:latin typeface="Arial"/>
                <a:ea typeface="Arial"/>
                <a:cs typeface="Arial"/>
                <a:sym typeface="Arial"/>
              </a:rPr>
              <a:t>          	For the successful completion of the Smart Borrower Automation Bot, it is crucial to download the necessary packages to enable the required activities. The following packages should be installed:</a:t>
            </a:r>
            <a:endParaRPr sz="1500">
              <a:latin typeface="Arial"/>
              <a:ea typeface="Arial"/>
              <a:cs typeface="Arial"/>
              <a:sym typeface="Arial"/>
            </a:endParaRPr>
          </a:p>
          <a:p>
            <a:pPr indent="-323850" lvl="0" marL="914400" rtl="0" algn="l">
              <a:lnSpc>
                <a:spcPct val="150000"/>
              </a:lnSpc>
              <a:spcBef>
                <a:spcPts val="0"/>
              </a:spcBef>
              <a:spcAft>
                <a:spcPts val="0"/>
              </a:spcAft>
              <a:buSzPts val="1500"/>
              <a:buFont typeface="Arial"/>
              <a:buChar char="●"/>
            </a:pPr>
            <a:r>
              <a:rPr b="1" lang="en-US" sz="1500">
                <a:latin typeface="Arial"/>
                <a:ea typeface="Arial"/>
                <a:cs typeface="Arial"/>
                <a:sym typeface="Arial"/>
              </a:rPr>
              <a:t>UiPath.Excel.Activities</a:t>
            </a:r>
            <a:r>
              <a:rPr lang="en-US" sz="1500">
                <a:latin typeface="Arial"/>
                <a:ea typeface="Arial"/>
                <a:cs typeface="Arial"/>
                <a:sym typeface="Arial"/>
              </a:rPr>
              <a:t>: To manage Excel files for organizing borrowing records and penalty details.</a:t>
            </a:r>
            <a:endParaRPr sz="1500">
              <a:latin typeface="Arial"/>
              <a:ea typeface="Arial"/>
              <a:cs typeface="Arial"/>
              <a:sym typeface="Arial"/>
            </a:endParaRPr>
          </a:p>
          <a:p>
            <a:pPr indent="-323850" lvl="0" marL="914400" rtl="0" algn="l">
              <a:lnSpc>
                <a:spcPct val="150000"/>
              </a:lnSpc>
              <a:spcBef>
                <a:spcPts val="0"/>
              </a:spcBef>
              <a:spcAft>
                <a:spcPts val="0"/>
              </a:spcAft>
              <a:buSzPts val="1500"/>
              <a:buFont typeface="Arial"/>
              <a:buChar char="●"/>
            </a:pPr>
            <a:r>
              <a:rPr b="1" lang="en-US" sz="1500">
                <a:latin typeface="Arial"/>
                <a:ea typeface="Arial"/>
                <a:cs typeface="Arial"/>
                <a:sym typeface="Arial"/>
              </a:rPr>
              <a:t>UiPath.Mail.Activities</a:t>
            </a:r>
            <a:r>
              <a:rPr lang="en-US" sz="1500">
                <a:latin typeface="Arial"/>
                <a:ea typeface="Arial"/>
                <a:cs typeface="Arial"/>
                <a:sym typeface="Arial"/>
              </a:rPr>
              <a:t>: For sending penalty reports and notifications via email to users and administrators.</a:t>
            </a:r>
            <a:endParaRPr sz="1500">
              <a:latin typeface="Arial"/>
              <a:ea typeface="Arial"/>
              <a:cs typeface="Arial"/>
              <a:sym typeface="Arial"/>
            </a:endParaRPr>
          </a:p>
          <a:p>
            <a:pPr indent="-323850" lvl="0" marL="914400" rtl="0" algn="l">
              <a:lnSpc>
                <a:spcPct val="150000"/>
              </a:lnSpc>
              <a:spcBef>
                <a:spcPts val="0"/>
              </a:spcBef>
              <a:spcAft>
                <a:spcPts val="0"/>
              </a:spcAft>
              <a:buSzPts val="1500"/>
              <a:buFont typeface="Arial"/>
              <a:buChar char="●"/>
            </a:pPr>
            <a:r>
              <a:rPr lang="en-US" sz="1500">
                <a:latin typeface="Arial"/>
                <a:ea typeface="Arial"/>
                <a:cs typeface="Arial"/>
                <a:sym typeface="Arial"/>
              </a:rPr>
              <a:t>UiPath.WebAPI.Activities: For integrating external APIs, if needed, to enhance lending institution management workflows.</a:t>
            </a:r>
            <a:endParaRPr sz="1500">
              <a:latin typeface="Arial"/>
              <a:ea typeface="Arial"/>
              <a:cs typeface="Arial"/>
              <a:sym typeface="Arial"/>
            </a:endParaRPr>
          </a:p>
          <a:p>
            <a:pPr indent="-323850" lvl="0" marL="914400" rtl="0" algn="l">
              <a:lnSpc>
                <a:spcPct val="150000"/>
              </a:lnSpc>
              <a:spcBef>
                <a:spcPts val="0"/>
              </a:spcBef>
              <a:spcAft>
                <a:spcPts val="0"/>
              </a:spcAft>
              <a:buSzPts val="1500"/>
              <a:buFont typeface="Arial"/>
              <a:buChar char="●"/>
            </a:pPr>
            <a:r>
              <a:rPr lang="en-US" sz="1500">
                <a:latin typeface="Arial"/>
                <a:ea typeface="Arial"/>
                <a:cs typeface="Arial"/>
                <a:sym typeface="Arial"/>
              </a:rPr>
              <a:t>UiPath.UIAutomation.Activities: For interacting with lending institution management systems, extracting user and book details.</a:t>
            </a:r>
            <a:endParaRPr sz="15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US" sz="1700">
                <a:latin typeface="Times New Roman"/>
                <a:ea typeface="Times New Roman"/>
                <a:cs typeface="Times New Roman"/>
                <a:sym typeface="Times New Roman"/>
              </a:rPr>
              <a:t>UiPath.System.Activities</a:t>
            </a:r>
            <a:r>
              <a:rPr lang="en-US" sz="1700">
                <a:latin typeface="Times New Roman"/>
                <a:ea typeface="Times New Roman"/>
                <a:cs typeface="Times New Roman"/>
                <a:sym typeface="Times New Roman"/>
              </a:rPr>
              <a:t>: For performing essential workflow automation tasks like logging, decision-making, and exception handling</a:t>
            </a:r>
            <a:endParaRPr sz="2800"/>
          </a:p>
          <a:p>
            <a:pPr indent="0" lvl="0" marL="342900" rtl="0" algn="l">
              <a:lnSpc>
                <a:spcPct val="114000"/>
              </a:lnSpc>
              <a:spcBef>
                <a:spcPts val="0"/>
              </a:spcBef>
              <a:spcAft>
                <a:spcPts val="0"/>
              </a:spcAft>
              <a:buNone/>
            </a:pPr>
            <a:r>
              <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190500" y="80588"/>
            <a:ext cx="8763000" cy="80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sz="3300"/>
              <a:t>Implementation Screenshot</a:t>
            </a:r>
            <a:endParaRPr sz="3300">
              <a:latin typeface="Calibri"/>
              <a:ea typeface="Calibri"/>
              <a:cs typeface="Calibri"/>
              <a:sym typeface="Calibri"/>
            </a:endParaRPr>
          </a:p>
        </p:txBody>
      </p:sp>
      <p:sp>
        <p:nvSpPr>
          <p:cNvPr id="161" name="Google Shape;161;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62" name="Google Shape;162;p22"/>
          <p:cNvPicPr preferRelativeResize="0"/>
          <p:nvPr/>
        </p:nvPicPr>
        <p:blipFill>
          <a:blip r:embed="rId3">
            <a:alphaModFix/>
          </a:blip>
          <a:stretch>
            <a:fillRect/>
          </a:stretch>
        </p:blipFill>
        <p:spPr>
          <a:xfrm>
            <a:off x="330550" y="1056200"/>
            <a:ext cx="4931550" cy="4969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sz="100"/>
          </a:p>
        </p:txBody>
      </p:sp>
      <p:sp>
        <p:nvSpPr>
          <p:cNvPr id="169" name="Google Shape;169;p23"/>
          <p:cNvSpPr txBox="1"/>
          <p:nvPr>
            <p:ph idx="1" type="body"/>
          </p:nvPr>
        </p:nvSpPr>
        <p:spPr>
          <a:xfrm>
            <a:off x="381000" y="688375"/>
            <a:ext cx="8763000" cy="57714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sz="100"/>
          </a:p>
        </p:txBody>
      </p:sp>
      <p:pic>
        <p:nvPicPr>
          <p:cNvPr id="170" name="Google Shape;170;p23"/>
          <p:cNvPicPr preferRelativeResize="0"/>
          <p:nvPr/>
        </p:nvPicPr>
        <p:blipFill>
          <a:blip r:embed="rId3">
            <a:alphaModFix/>
          </a:blip>
          <a:stretch>
            <a:fillRect/>
          </a:stretch>
        </p:blipFill>
        <p:spPr>
          <a:xfrm>
            <a:off x="1335675" y="758575"/>
            <a:ext cx="5957000" cy="5460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4089025" y="1526300"/>
            <a:ext cx="2385000" cy="618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sz="100"/>
          </a:p>
        </p:txBody>
      </p:sp>
      <p:sp>
        <p:nvSpPr>
          <p:cNvPr id="177" name="Google Shape;177;p24"/>
          <p:cNvSpPr txBox="1"/>
          <p:nvPr>
            <p:ph idx="1" type="body"/>
          </p:nvPr>
        </p:nvSpPr>
        <p:spPr>
          <a:xfrm>
            <a:off x="7904750" y="5960800"/>
            <a:ext cx="1048800" cy="363600"/>
          </a:xfrm>
          <a:prstGeom prst="rect">
            <a:avLst/>
          </a:prstGeom>
        </p:spPr>
        <p:txBody>
          <a:bodyPr anchorCtr="0" anchor="t" bIns="45700" lIns="91425" spcFirstLastPara="1" rIns="91425" wrap="square" tIns="45700">
            <a:normAutofit fontScale="77500" lnSpcReduction="20000"/>
          </a:bodyPr>
          <a:lstStyle/>
          <a:p>
            <a:pPr indent="0" lvl="0" marL="0" rtl="0" algn="l">
              <a:spcBef>
                <a:spcPts val="480"/>
              </a:spcBef>
              <a:spcAft>
                <a:spcPts val="0"/>
              </a:spcAft>
              <a:buNone/>
            </a:pPr>
            <a:r>
              <a:t/>
            </a:r>
            <a:endParaRPr/>
          </a:p>
        </p:txBody>
      </p:sp>
      <p:pic>
        <p:nvPicPr>
          <p:cNvPr id="178" name="Google Shape;178;p24"/>
          <p:cNvPicPr preferRelativeResize="0"/>
          <p:nvPr/>
        </p:nvPicPr>
        <p:blipFill rotWithShape="1">
          <a:blip r:embed="rId3">
            <a:alphaModFix/>
          </a:blip>
          <a:srcRect b="0" l="-4069" r="6479" t="0"/>
          <a:stretch/>
        </p:blipFill>
        <p:spPr>
          <a:xfrm>
            <a:off x="2165675" y="0"/>
            <a:ext cx="4572000" cy="643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5"/>
          <p:cNvPicPr preferRelativeResize="0"/>
          <p:nvPr/>
        </p:nvPicPr>
        <p:blipFill rotWithShape="1">
          <a:blip r:embed="rId3">
            <a:alphaModFix/>
          </a:blip>
          <a:srcRect b="13427" l="8148" r="7930" t="0"/>
          <a:stretch/>
        </p:blipFill>
        <p:spPr>
          <a:xfrm>
            <a:off x="2045375" y="0"/>
            <a:ext cx="4382925" cy="6245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flipH="1" rot="10800000">
            <a:off x="2503425" y="914250"/>
            <a:ext cx="399600" cy="251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sz="100"/>
          </a:p>
        </p:txBody>
      </p:sp>
      <p:sp>
        <p:nvSpPr>
          <p:cNvPr id="191" name="Google Shape;191;p26"/>
          <p:cNvSpPr txBox="1"/>
          <p:nvPr>
            <p:ph idx="1" type="body"/>
          </p:nvPr>
        </p:nvSpPr>
        <p:spPr>
          <a:xfrm>
            <a:off x="3173750" y="2003250"/>
            <a:ext cx="2075400" cy="21012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pic>
        <p:nvPicPr>
          <p:cNvPr id="192" name="Google Shape;192;p26"/>
          <p:cNvPicPr preferRelativeResize="0"/>
          <p:nvPr/>
        </p:nvPicPr>
        <p:blipFill>
          <a:blip r:embed="rId3">
            <a:alphaModFix/>
          </a:blip>
          <a:stretch>
            <a:fillRect/>
          </a:stretch>
        </p:blipFill>
        <p:spPr>
          <a:xfrm>
            <a:off x="760575" y="106375"/>
            <a:ext cx="6094351" cy="6324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99" name="Google Shape;199;p27"/>
          <p:cNvSpPr txBox="1"/>
          <p:nvPr>
            <p:ph idx="1" type="body"/>
          </p:nvPr>
        </p:nvSpPr>
        <p:spPr>
          <a:xfrm>
            <a:off x="254950" y="914400"/>
            <a:ext cx="8763000" cy="49752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48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200" name="Google Shape;200;p27"/>
          <p:cNvPicPr preferRelativeResize="0"/>
          <p:nvPr/>
        </p:nvPicPr>
        <p:blipFill rotWithShape="1">
          <a:blip r:embed="rId3">
            <a:alphaModFix/>
          </a:blip>
          <a:srcRect b="0" l="0" r="18916" t="0"/>
          <a:stretch/>
        </p:blipFill>
        <p:spPr>
          <a:xfrm>
            <a:off x="123325" y="968488"/>
            <a:ext cx="8897350" cy="4921024"/>
          </a:xfrm>
          <a:prstGeom prst="rect">
            <a:avLst/>
          </a:prstGeom>
          <a:noFill/>
          <a:ln>
            <a:noFill/>
          </a:ln>
        </p:spPr>
      </p:pic>
      <p:sp>
        <p:nvSpPr>
          <p:cNvPr id="201" name="Google Shape;201;p27"/>
          <p:cNvSpPr txBox="1"/>
          <p:nvPr/>
        </p:nvSpPr>
        <p:spPr>
          <a:xfrm>
            <a:off x="2732875" y="602007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Times New Roman"/>
                <a:ea typeface="Times New Roman"/>
                <a:cs typeface="Times New Roman"/>
                <a:sym typeface="Times New Roman"/>
              </a:rPr>
              <a:t>Library Data File (Input)</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0" y="5675275"/>
            <a:ext cx="3534600" cy="298500"/>
          </a:xfrm>
          <a:prstGeom prst="rect">
            <a:avLst/>
          </a:prstGeom>
        </p:spPr>
        <p:txBody>
          <a:bodyPr anchorCtr="0" anchor="ctr" bIns="45700" lIns="91425" spcFirstLastPara="1" rIns="91425" wrap="square" tIns="45700">
            <a:normAutofit fontScale="90000"/>
          </a:bodyPr>
          <a:lstStyle/>
          <a:p>
            <a:pPr indent="0" lvl="0" marL="0" rtl="0" algn="l">
              <a:lnSpc>
                <a:spcPct val="114000"/>
              </a:lnSpc>
              <a:spcBef>
                <a:spcPts val="480"/>
              </a:spcBef>
              <a:spcAft>
                <a:spcPts val="0"/>
              </a:spcAft>
              <a:buClr>
                <a:schemeClr val="dk1"/>
              </a:buClr>
              <a:buSzPct val="84615"/>
              <a:buFont typeface="Arial"/>
              <a:buNone/>
            </a:pPr>
            <a:r>
              <a:rPr lang="en-US" sz="1300">
                <a:latin typeface="Times New Roman"/>
                <a:ea typeface="Times New Roman"/>
                <a:cs typeface="Times New Roman"/>
                <a:sym typeface="Times New Roman"/>
              </a:rPr>
              <a:t>Borrowing Records (Input) </a:t>
            </a:r>
            <a:endParaRPr sz="2400"/>
          </a:p>
          <a:p>
            <a:pPr indent="0" lvl="0" marL="0" rtl="0" algn="l">
              <a:spcBef>
                <a:spcPts val="0"/>
              </a:spcBef>
              <a:spcAft>
                <a:spcPts val="0"/>
              </a:spcAft>
              <a:buNone/>
            </a:pPr>
            <a:r>
              <a:t/>
            </a:r>
            <a:endParaRPr/>
          </a:p>
        </p:txBody>
      </p:sp>
      <p:sp>
        <p:nvSpPr>
          <p:cNvPr id="208" name="Google Shape;208;p28"/>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sz="1300">
              <a:latin typeface="Times New Roman"/>
              <a:ea typeface="Times New Roman"/>
              <a:cs typeface="Times New Roman"/>
              <a:sym typeface="Times New Roman"/>
            </a:endParaRPr>
          </a:p>
        </p:txBody>
      </p:sp>
      <p:pic>
        <p:nvPicPr>
          <p:cNvPr id="209" name="Google Shape;209;p28"/>
          <p:cNvPicPr preferRelativeResize="0"/>
          <p:nvPr/>
        </p:nvPicPr>
        <p:blipFill rotWithShape="1">
          <a:blip r:embed="rId3">
            <a:alphaModFix/>
          </a:blip>
          <a:srcRect b="0" l="0" r="52727" t="0"/>
          <a:stretch/>
        </p:blipFill>
        <p:spPr>
          <a:xfrm>
            <a:off x="190500" y="309400"/>
            <a:ext cx="5876024" cy="61283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16" name="Google Shape;216;p29"/>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spcBef>
                <a:spcPts val="480"/>
              </a:spcBef>
              <a:spcAft>
                <a:spcPts val="0"/>
              </a:spcAft>
              <a:buNone/>
            </a:pPr>
            <a:r>
              <a:t/>
            </a:r>
            <a:endParaRPr/>
          </a:p>
        </p:txBody>
      </p:sp>
      <p:pic>
        <p:nvPicPr>
          <p:cNvPr id="217" name="Google Shape;217;p29"/>
          <p:cNvPicPr preferRelativeResize="0"/>
          <p:nvPr/>
        </p:nvPicPr>
        <p:blipFill rotWithShape="1">
          <a:blip r:embed="rId3">
            <a:alphaModFix/>
          </a:blip>
          <a:srcRect b="0" l="0" r="22803" t="0"/>
          <a:stretch/>
        </p:blipFill>
        <p:spPr>
          <a:xfrm>
            <a:off x="805250" y="193375"/>
            <a:ext cx="7215526" cy="5896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224" name="Google Shape;224;p3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77500" lnSpcReduction="10000"/>
          </a:bodyPr>
          <a:lstStyle/>
          <a:p>
            <a:pPr indent="-308610" lvl="0" marL="342900" marR="355600" rtl="0" algn="l">
              <a:lnSpc>
                <a:spcPct val="109000"/>
              </a:lnSpc>
              <a:spcBef>
                <a:spcPts val="0"/>
              </a:spcBef>
              <a:spcAft>
                <a:spcPts val="0"/>
              </a:spcAft>
              <a:buSzPct val="100000"/>
              <a:buChar char="▪"/>
            </a:pPr>
            <a:r>
              <a:rPr lang="en-US"/>
              <a:t>The Smart Borrower Automation Bot streamlines the process of managing lending institution resources, reconciling loan repayments or interest calculations, and notifying users. By leveraging UiPath RPA tools, the bot automates the retrieval of borrowing records, calculates loan repayments or interest calculations, organizes data into Excel files, and sends notifications via email. This reduces manual effort, saves time, and ensures accurate record management, enhancing the efficiency of lending institution operations.</a:t>
            </a:r>
            <a:endParaRPr/>
          </a:p>
          <a:p>
            <a:pPr indent="-308610" lvl="0" marL="342900" marR="355600" rtl="0" algn="l">
              <a:lnSpc>
                <a:spcPct val="109000"/>
              </a:lnSpc>
              <a:spcBef>
                <a:spcPts val="0"/>
              </a:spcBef>
              <a:spcAft>
                <a:spcPts val="0"/>
              </a:spcAft>
              <a:buSzPct val="100000"/>
              <a:buChar char="▪"/>
            </a:pPr>
            <a:r>
              <a:rPr lang="en-US"/>
              <a:t>The bot also incorporates robust error-handling and retry mechanisms, ensuring reliability even in case of data inconsistencies or process interruptions. By providing structured reports in Excel, it allows administrators to easily review and manage records, ensuring accurate and fair penalty reconciliation.</a:t>
            </a:r>
            <a:endParaRPr/>
          </a:p>
          <a:p>
            <a:pPr indent="-308610" lvl="0" marL="342900" marR="355600" rtl="0" algn="l">
              <a:lnSpc>
                <a:spcPct val="109000"/>
              </a:lnSpc>
              <a:spcBef>
                <a:spcPts val="0"/>
              </a:spcBef>
              <a:spcAft>
                <a:spcPts val="0"/>
              </a:spcAft>
              <a:buSzPct val="100000"/>
              <a:buChar char="▪"/>
            </a:pPr>
            <a:r>
              <a:rPr lang="en-US"/>
              <a:t>In conclusion, the Smart Borrower Automation Bot demonstrates the power of RPA to automate repetitive tasks, improve workflow efficiency, and enhance user experience. It offers a scalable and user-friendly solution for libraries, simplifying resource management and ensuring accurate and timely data processing.</a:t>
            </a:r>
            <a:endParaRPr/>
          </a:p>
          <a:p>
            <a:pPr indent="0" lvl="0" marL="342900" rtl="0" algn="l">
              <a:lnSpc>
                <a:spcPct val="114000"/>
              </a:lnSpc>
              <a:spcBef>
                <a:spcPts val="150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31" name="Google Shape;231;p3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marR="6032500" rtl="0" algn="l">
              <a:lnSpc>
                <a:spcPct val="100000"/>
              </a:lnSpc>
              <a:spcBef>
                <a:spcPts val="0"/>
              </a:spcBef>
              <a:spcAft>
                <a:spcPts val="0"/>
              </a:spcAft>
              <a:buNone/>
            </a:pPr>
            <a:r>
              <a:t/>
            </a:r>
            <a:endParaRPr sz="1100">
              <a:latin typeface="Arial"/>
              <a:ea typeface="Arial"/>
              <a:cs typeface="Arial"/>
              <a:sym typeface="Arial"/>
            </a:endParaRPr>
          </a:p>
          <a:p>
            <a:pPr indent="0" lvl="0" marL="0" marR="6032500" rtl="0" algn="l">
              <a:lnSpc>
                <a:spcPct val="100000"/>
              </a:lnSpc>
              <a:spcBef>
                <a:spcPts val="0"/>
              </a:spcBef>
              <a:spcAft>
                <a:spcPts val="0"/>
              </a:spcAft>
              <a:buNone/>
            </a:pPr>
            <a:r>
              <a:t/>
            </a:r>
            <a:endParaRPr sz="1100">
              <a:latin typeface="Arial"/>
              <a:ea typeface="Arial"/>
              <a:cs typeface="Arial"/>
              <a:sym typeface="Arial"/>
            </a:endParaRPr>
          </a:p>
          <a:p>
            <a:pPr indent="0" lvl="0" marL="0" marR="6032500" rtl="0" algn="l">
              <a:lnSpc>
                <a:spcPct val="100000"/>
              </a:lnSpc>
              <a:spcBef>
                <a:spcPts val="0"/>
              </a:spcBef>
              <a:spcAft>
                <a:spcPts val="0"/>
              </a:spcAft>
              <a:buNone/>
            </a:pPr>
            <a:r>
              <a:t/>
            </a:r>
            <a:endParaRPr sz="2000">
              <a:latin typeface="Arial"/>
              <a:ea typeface="Arial"/>
              <a:cs typeface="Arial"/>
              <a:sym typeface="Arial"/>
            </a:endParaRPr>
          </a:p>
          <a:p>
            <a:pPr indent="-342900" lvl="0" marL="342900" marR="38100" rtl="0" algn="l">
              <a:lnSpc>
                <a:spcPct val="115000"/>
              </a:lnSpc>
              <a:spcBef>
                <a:spcPts val="0"/>
              </a:spcBef>
              <a:spcAft>
                <a:spcPts val="0"/>
              </a:spcAft>
              <a:buSzPts val="2400"/>
              <a:buChar char="▪"/>
            </a:pPr>
            <a:r>
              <a:rPr lang="en-US" sz="700">
                <a:latin typeface="Arial"/>
                <a:ea typeface="Arial"/>
                <a:cs typeface="Arial"/>
                <a:sym typeface="Arial"/>
              </a:rPr>
              <a:t>	</a:t>
            </a:r>
            <a:r>
              <a:rPr lang="en-US" sz="1900">
                <a:latin typeface="Arial"/>
                <a:ea typeface="Arial"/>
                <a:cs typeface="Arial"/>
                <a:sym typeface="Arial"/>
              </a:rPr>
              <a:t>UiPath Forum: The UiPath Forum community where users share their experiences and solutions.</a:t>
            </a:r>
            <a:r>
              <a:rPr lang="en-US" sz="1900">
                <a:solidFill>
                  <a:srgbClr val="0000FF"/>
                </a:solidFill>
                <a:latin typeface="Arial"/>
                <a:ea typeface="Arial"/>
                <a:cs typeface="Arial"/>
                <a:sym typeface="Arial"/>
              </a:rPr>
              <a:t> </a:t>
            </a:r>
            <a:r>
              <a:rPr lang="en-US" sz="1900" u="sng">
                <a:solidFill>
                  <a:srgbClr val="0000FF"/>
                </a:solidFill>
                <a:latin typeface="Arial"/>
                <a:ea typeface="Arial"/>
                <a:cs typeface="Arial"/>
                <a:sym typeface="Arial"/>
              </a:rPr>
              <a:t>https://forum.uipath.com/</a:t>
            </a:r>
            <a:endParaRPr sz="1900" u="sng">
              <a:solidFill>
                <a:srgbClr val="0000FF"/>
              </a:solidFill>
              <a:latin typeface="Arial"/>
              <a:ea typeface="Arial"/>
              <a:cs typeface="Arial"/>
              <a:sym typeface="Arial"/>
            </a:endParaRPr>
          </a:p>
          <a:p>
            <a:pPr indent="-342900" lvl="0" marL="342900" marR="38100" rtl="0" algn="l">
              <a:lnSpc>
                <a:spcPct val="115000"/>
              </a:lnSpc>
              <a:spcBef>
                <a:spcPts val="0"/>
              </a:spcBef>
              <a:spcAft>
                <a:spcPts val="0"/>
              </a:spcAft>
              <a:buSzPts val="2400"/>
              <a:buChar char="▪"/>
            </a:pPr>
            <a:r>
              <a:rPr lang="en-US" sz="1500">
                <a:latin typeface="Arial"/>
                <a:ea typeface="Arial"/>
                <a:cs typeface="Arial"/>
                <a:sym typeface="Arial"/>
              </a:rPr>
              <a:t>	</a:t>
            </a:r>
            <a:r>
              <a:rPr lang="en-US" sz="1900">
                <a:latin typeface="Arial"/>
                <a:ea typeface="Arial"/>
                <a:cs typeface="Arial"/>
                <a:sym typeface="Arial"/>
              </a:rPr>
              <a:t>UiPath Documentation: The official documentation of UiPath features and functionalities</a:t>
            </a:r>
            <a:r>
              <a:rPr lang="en-US" sz="1900">
                <a:solidFill>
                  <a:srgbClr val="0000FF"/>
                </a:solidFill>
                <a:latin typeface="Arial"/>
                <a:ea typeface="Arial"/>
                <a:cs typeface="Arial"/>
                <a:sym typeface="Arial"/>
              </a:rPr>
              <a:t> </a:t>
            </a:r>
            <a:r>
              <a:rPr lang="en-US" sz="1900" u="sng">
                <a:solidFill>
                  <a:srgbClr val="0000FF"/>
                </a:solidFill>
                <a:latin typeface="Arial"/>
                <a:ea typeface="Arial"/>
                <a:cs typeface="Arial"/>
                <a:sym typeface="Arial"/>
              </a:rPr>
              <a:t>https://docs.uipath.com/</a:t>
            </a:r>
            <a:endParaRPr sz="1900" u="sng">
              <a:solidFill>
                <a:srgbClr val="0000FF"/>
              </a:solidFill>
              <a:latin typeface="Arial"/>
              <a:ea typeface="Arial"/>
              <a:cs typeface="Arial"/>
              <a:sym typeface="Arial"/>
            </a:endParaRPr>
          </a:p>
          <a:p>
            <a:pPr indent="0" lvl="0" marL="342900" rtl="0" algn="l">
              <a:lnSpc>
                <a:spcPct val="114000"/>
              </a:lnSpc>
              <a:spcBef>
                <a:spcPts val="0"/>
              </a:spcBef>
              <a:spcAft>
                <a:spcPts val="0"/>
              </a:spcAft>
              <a:buNone/>
            </a:pPr>
            <a:r>
              <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